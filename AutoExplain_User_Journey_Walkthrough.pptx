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8"/>
          </a:solidFill>
          <a:ln>
            <a:solidFill>
              <a:srgbClr val="F7FA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97280" y="1005840"/>
            <a:ext cx="9997135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645920" y="1463040"/>
            <a:ext cx="3474720" cy="36576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EF4444"/>
                </a:solidFill>
                <a:latin typeface="Arial"/>
              </a:defRPr>
            </a:pPr>
            <a:r>
              <a:t>🔴 USER ACTIONS WITH RED CIRCLE CALLOUTS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45920" y="2011680"/>
            <a:ext cx="8869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111815"/>
                </a:solidFill>
                <a:latin typeface="Arial"/>
              </a:defRPr>
            </a:pPr>
            <a:r>
              <a:t>AutoExplain Studio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0" y="3017520"/>
            <a:ext cx="8869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>
                <a:solidFill>
                  <a:srgbClr val="4B5563"/>
                </a:solidFill>
                <a:latin typeface="Arial"/>
              </a:defRPr>
            </a:pPr>
            <a:r>
              <a:t>Step-by-Step Feature Walkthrough: Every User Click Circled in Red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645920" y="3977639"/>
            <a:ext cx="2788920" cy="1463040"/>
          </a:xfrm>
          <a:prstGeom prst="roundRect">
            <a:avLst/>
          </a:prstGeom>
          <a:solidFill>
            <a:srgbClr val="F7FAF8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defRPr sz="1200" b="1">
                <a:solidFill>
                  <a:srgbClr val="047857"/>
                </a:solidFill>
                <a:latin typeface="Arial"/>
              </a:defRPr>
            </a:pPr>
            <a:r>
              <a:t>Visual Click Indicators</a:t>
            </a:r>
          </a:p>
          <a:p>
            <a:pPr>
              <a:defRPr sz="950">
                <a:solidFill>
                  <a:srgbClr val="4B5563"/>
                </a:solidFill>
                <a:latin typeface="Arial"/>
              </a:defRPr>
            </a:pPr>
            <a:r>
              <a:t>Each slide features a vibrant red circle callout directly over the element being clicked.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90872" y="3977639"/>
            <a:ext cx="2788920" cy="1463040"/>
          </a:xfrm>
          <a:prstGeom prst="roundRect">
            <a:avLst/>
          </a:prstGeom>
          <a:solidFill>
            <a:srgbClr val="F7FAF8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defRPr sz="1200" b="1">
                <a:solidFill>
                  <a:srgbClr val="047857"/>
                </a:solidFill>
                <a:latin typeface="Arial"/>
              </a:defRPr>
            </a:pPr>
            <a:r>
              <a:t>Feature Discovery</a:t>
            </a:r>
          </a:p>
          <a:p>
            <a:pPr>
              <a:defRPr sz="950">
                <a:solidFill>
                  <a:srgbClr val="4B5563"/>
                </a:solidFill>
                <a:latin typeface="Arial"/>
              </a:defRPr>
            </a:pPr>
            <a:r>
              <a:t>Follow a researcher journey from zero-setup token inspection to cross-model causal steering.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35824" y="3977639"/>
            <a:ext cx="2788920" cy="1463040"/>
          </a:xfrm>
          <a:prstGeom prst="roundRect">
            <a:avLst/>
          </a:prstGeom>
          <a:solidFill>
            <a:srgbClr val="F7FAF8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defRPr sz="1200" b="1">
                <a:solidFill>
                  <a:srgbClr val="047857"/>
                </a:solidFill>
                <a:latin typeface="Arial"/>
              </a:defRPr>
            </a:pPr>
            <a:r>
              <a:t>Strict 2-Card Simplicity</a:t>
            </a:r>
          </a:p>
          <a:p>
            <a:pPr>
              <a:defRPr sz="950">
                <a:solidFill>
                  <a:srgbClr val="4B5563"/>
                </a:solidFill>
                <a:latin typeface="Arial"/>
              </a:defRPr>
            </a:pPr>
            <a:r>
              <a:t>Card 1 (Interpret) and Card 2 (Steer) under the Unsloth Studio Light Theme (#F7FAF8).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8"/>
          </a:solidFill>
          <a:ln>
            <a:solidFill>
              <a:srgbClr val="F7FA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68580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EF4444"/>
                </a:solidFill>
                <a:latin typeface="Arial"/>
              </a:defRPr>
            </a:pPr>
            <a:r>
              <a:t>OVERVIEW · STEP-BY-STEP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111815"/>
                </a:solidFill>
                <a:latin typeface="Arial"/>
              </a:defRPr>
            </a:pPr>
            <a:r>
              <a:t>Complete 10-Step Interactive User Roadmap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98448"/>
            <a:ext cx="525780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/>
          <a:lstStyle/>
          <a:p>
            <a:pPr algn="ctr">
              <a:defRPr sz="1100" b="1">
                <a:solidFill>
                  <a:srgbClr val="EF4444"/>
                </a:solidFill>
                <a:latin typeface="Arial"/>
              </a:defRPr>
            </a:pPr>
            <a:r>
              <a:t>1. Click 'France' Pill</a:t>
            </a:r>
          </a:p>
          <a:p>
            <a:pPr>
              <a:defRPr sz="950">
                <a:solidFill>
                  <a:srgbClr val="4B5563"/>
                </a:solidFill>
                <a:latin typeface="Arial"/>
              </a:defRPr>
            </a:pPr>
            <a:r>
              <a:t>Inspect sovereign state entity concept in Card 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1298448"/>
            <a:ext cx="525780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/>
          <a:lstStyle/>
          <a:p>
            <a:pPr algn="ctr">
              <a:defRPr sz="1100" b="1">
                <a:solidFill>
                  <a:srgbClr val="EF4444"/>
                </a:solidFill>
                <a:latin typeface="Arial"/>
              </a:defRPr>
            </a:pPr>
            <a:r>
              <a:t>2. Click '⚡ Steer This Concept'</a:t>
            </a:r>
          </a:p>
          <a:p>
            <a:pPr>
              <a:defRPr sz="950">
                <a:solidFill>
                  <a:srgbClr val="4B5563"/>
                </a:solidFill>
                <a:latin typeface="Arial"/>
              </a:defRPr>
            </a:pPr>
            <a:r>
              <a:t>Copy active concept directly into Card 2 input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304288"/>
            <a:ext cx="525780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/>
          <a:lstStyle/>
          <a:p>
            <a:pPr algn="ctr">
              <a:defRPr sz="1100" b="1">
                <a:solidFill>
                  <a:srgbClr val="EF4444"/>
                </a:solidFill>
                <a:latin typeface="Arial"/>
              </a:defRPr>
            </a:pPr>
            <a:r>
              <a:t>3. Click 'is' Pill</a:t>
            </a:r>
          </a:p>
          <a:p>
            <a:pPr>
              <a:defRPr sz="950">
                <a:solidFill>
                  <a:srgbClr val="4B5563"/>
                </a:solidFill>
                <a:latin typeface="Arial"/>
              </a:defRPr>
            </a:pPr>
            <a:r>
              <a:t>Examine factual capital prediction node ('Paris')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2304288"/>
            <a:ext cx="525780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/>
          <a:lstStyle/>
          <a:p>
            <a:pPr algn="ctr">
              <a:defRPr sz="1100" b="1">
                <a:solidFill>
                  <a:srgbClr val="EF4444"/>
                </a:solidFill>
                <a:latin typeface="Arial"/>
              </a:defRPr>
            </a:pPr>
            <a:r>
              <a:t>4. Click '📌 Tokyo Steer'</a:t>
            </a:r>
          </a:p>
          <a:p>
            <a:pPr>
              <a:defRPr sz="950">
                <a:solidFill>
                  <a:srgbClr val="4B5563"/>
                </a:solidFill>
                <a:latin typeface="Arial"/>
              </a:defRPr>
            </a:pPr>
            <a:r>
              <a:t>Apply counterfactual entity shift preset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310128"/>
            <a:ext cx="525780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/>
          <a:lstStyle/>
          <a:p>
            <a:pPr algn="ctr">
              <a:defRPr sz="1100" b="1">
                <a:solidFill>
                  <a:srgbClr val="EF4444"/>
                </a:solidFill>
                <a:latin typeface="Arial"/>
              </a:defRPr>
            </a:pPr>
            <a:r>
              <a:t>5. Click '[ Apply Steer ]'</a:t>
            </a:r>
          </a:p>
          <a:p>
            <a:pPr>
              <a:defRPr sz="950">
                <a:solidFill>
                  <a:srgbClr val="4B5563"/>
                </a:solidFill>
                <a:latin typeface="Arial"/>
              </a:defRPr>
            </a:pPr>
            <a:r>
              <a:t>Trigger causal intervention &amp; observe side-by-side diff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3310128"/>
            <a:ext cx="525780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/>
          <a:lstStyle/>
          <a:p>
            <a:pPr algn="ctr">
              <a:defRPr sz="1100" b="1">
                <a:solidFill>
                  <a:srgbClr val="EF4444"/>
                </a:solidFill>
                <a:latin typeface="Arial"/>
              </a:defRPr>
            </a:pPr>
            <a:r>
              <a:t>6. Click '🚫 Suppress Paris'</a:t>
            </a:r>
          </a:p>
          <a:p>
            <a:pPr>
              <a:defRPr sz="950">
                <a:solidFill>
                  <a:srgbClr val="4B5563"/>
                </a:solidFill>
                <a:latin typeface="Arial"/>
              </a:defRPr>
            </a:pPr>
            <a:r>
              <a:t>Suppress factual certainty node &amp; observe fallback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315968"/>
            <a:ext cx="525780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/>
          <a:lstStyle/>
          <a:p>
            <a:pPr algn="ctr">
              <a:defRPr sz="1100" b="1">
                <a:solidFill>
                  <a:srgbClr val="EF4444"/>
                </a:solidFill>
                <a:latin typeface="Arial"/>
              </a:defRPr>
            </a:pPr>
            <a:r>
              <a:t>7. Click '[ Save Steer ]'</a:t>
            </a:r>
          </a:p>
          <a:p>
            <a:pPr>
              <a:defRPr sz="950">
                <a:solidFill>
                  <a:srgbClr val="4B5563"/>
                </a:solidFill>
                <a:latin typeface="Arial"/>
              </a:defRPr>
            </a:pPr>
            <a:r>
              <a:t>Save customized steering vector as a reusable preset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4315968"/>
            <a:ext cx="525780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/>
          <a:lstStyle/>
          <a:p>
            <a:pPr algn="ctr">
              <a:defRPr sz="1100" b="1">
                <a:solidFill>
                  <a:srgbClr val="EF4444"/>
                </a:solidFill>
                <a:latin typeface="Arial"/>
              </a:defRPr>
            </a:pPr>
            <a:r>
              <a:t>8. Click 'gpt2-finetuned.pt'</a:t>
            </a:r>
          </a:p>
          <a:p>
            <a:pPr>
              <a:defRPr sz="950">
                <a:solidFill>
                  <a:srgbClr val="4B5563"/>
                </a:solidFill>
                <a:latin typeface="Arial"/>
              </a:defRPr>
            </a:pPr>
            <a:r>
              <a:t>Switch active model in header without losing presets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5321808"/>
            <a:ext cx="525780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/>
          <a:lstStyle/>
          <a:p>
            <a:pPr algn="ctr">
              <a:defRPr sz="1100" b="1">
                <a:solidFill>
                  <a:srgbClr val="EF4444"/>
                </a:solidFill>
                <a:latin typeface="Arial"/>
              </a:defRPr>
            </a:pPr>
            <a:r>
              <a:t>9. Click '[ + Upload .pt ]'</a:t>
            </a:r>
          </a:p>
          <a:p>
            <a:pPr>
              <a:defRPr sz="950">
                <a:solidFill>
                  <a:srgbClr val="4B5563"/>
                </a:solidFill>
                <a:latin typeface="Arial"/>
              </a:defRPr>
            </a:pPr>
            <a:r>
              <a:t>Upload custom model checkpoint placeholder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5321808"/>
            <a:ext cx="525780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/>
          <a:lstStyle/>
          <a:p>
            <a:pPr algn="ctr">
              <a:defRPr sz="1100" b="1">
                <a:solidFill>
                  <a:srgbClr val="EF4444"/>
                </a:solidFill>
                <a:latin typeface="Arial"/>
              </a:defRPr>
            </a:pPr>
            <a:r>
              <a:t>10. Click '[ Reset Baseline ]'</a:t>
            </a:r>
          </a:p>
          <a:p>
            <a:pPr>
              <a:defRPr sz="950">
                <a:solidFill>
                  <a:srgbClr val="4B5563"/>
                </a:solidFill>
                <a:latin typeface="Arial"/>
              </a:defRPr>
            </a:pPr>
            <a:r>
              <a:t>Restore unmodified Transformer forward pass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8"/>
          </a:solidFill>
          <a:ln>
            <a:solidFill>
              <a:srgbClr val="F7FA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68580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EF4444"/>
                </a:solidFill>
                <a:latin typeface="Arial"/>
              </a:defRPr>
            </a:pPr>
            <a:r>
              <a:t>STEP 1 OF 10 · RED CIRCLE: WORD PILL 'FRANCE' (POSITION 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111815"/>
                </a:solidFill>
                <a:latin typeface="Arial"/>
              </a:defRPr>
            </a:pPr>
            <a:r>
              <a:t>Step 1: Inspecting Word Meaning (The Interpreter)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98448"/>
            <a:ext cx="4114800" cy="5120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28600"/>
          <a:lstStyle/>
          <a:p>
            <a:pPr algn="ctr">
              <a:spcAft>
                <a:spcPts val="800"/>
              </a:spcAft>
              <a:defRPr sz="1100" b="1">
                <a:solidFill>
                  <a:srgbClr val="EF4444"/>
                </a:solidFill>
                <a:latin typeface="Arial"/>
              </a:defRPr>
            </a:pPr>
            <a:r>
              <a:t>🔴 RED CIRCLE CLICK: Word Pill 'France' (Position 3)</a:t>
            </a:r>
          </a:p>
          <a:p>
            <a:pPr>
              <a:defRPr sz="1050" b="1">
                <a:solidFill>
                  <a:srgbClr val="047857"/>
                </a:solidFill>
                <a:latin typeface="Arial"/>
              </a:defRPr>
            </a:pPr>
            <a:r>
              <a:t>My Action as User</a:t>
            </a:r>
          </a:p>
          <a:p>
            <a:pPr>
              <a:spcAft>
                <a:spcPts val="700"/>
              </a:spcAft>
              <a:defRPr sz="950">
                <a:solidFill>
                  <a:srgbClr val="4B5563"/>
                </a:solidFill>
                <a:latin typeface="Arial"/>
              </a:defRPr>
            </a:pPr>
            <a:r>
              <a:t>I click on the word pill 'France' in the pre-loaded prompt bar.</a:t>
            </a:r>
          </a:p>
          <a:p>
            <a:pPr>
              <a:defRPr sz="1050" b="1">
                <a:solidFill>
                  <a:srgbClr val="047857"/>
                </a:solidFill>
                <a:latin typeface="Arial"/>
              </a:defRPr>
            </a:pPr>
            <a:r>
              <a:t>What I See</a:t>
            </a:r>
          </a:p>
          <a:p>
            <a:pPr>
              <a:spcAft>
                <a:spcPts val="700"/>
              </a:spcAft>
              <a:defRPr sz="950">
                <a:solidFill>
                  <a:srgbClr val="4B5563"/>
                </a:solidFill>
                <a:latin typeface="Arial"/>
              </a:defRPr>
            </a:pPr>
            <a:r>
              <a:t>Word pill highlights in emerald. Card 1 immediately displays the internal concept: 'Sovereign entity: French Republic (Western Europe, Eurozone, Paris hub)'.</a:t>
            </a:r>
          </a:p>
          <a:p>
            <a:pPr>
              <a:defRPr sz="1050" b="1">
                <a:solidFill>
                  <a:srgbClr val="047857"/>
                </a:solidFill>
                <a:latin typeface="Arial"/>
              </a:defRPr>
            </a:pPr>
            <a:r>
              <a:t>Semantic Tags &amp; Strength</a:t>
            </a:r>
          </a:p>
          <a:p>
            <a:pPr>
              <a:spcAft>
                <a:spcPts val="700"/>
              </a:spcAft>
              <a:defRPr sz="950">
                <a:solidFill>
                  <a:srgbClr val="4B5563"/>
                </a:solidFill>
                <a:latin typeface="Arial"/>
              </a:defRPr>
            </a:pPr>
            <a:r>
              <a:t>Displays tags ['Country', 'Europe', 'France'] with 95% activation strength.</a:t>
            </a:r>
          </a:p>
          <a:p>
            <a:pPr>
              <a:defRPr sz="1050" b="1">
                <a:solidFill>
                  <a:srgbClr val="047857"/>
                </a:solidFill>
                <a:latin typeface="Arial"/>
              </a:defRPr>
            </a:pPr>
            <a:r>
              <a:t>Why It Matters</a:t>
            </a:r>
          </a:p>
          <a:p>
            <a:pPr>
              <a:spcAft>
                <a:spcPts val="700"/>
              </a:spcAft>
              <a:defRPr sz="950">
                <a:solidFill>
                  <a:srgbClr val="4B5563"/>
                </a:solidFill>
                <a:latin typeface="Arial"/>
              </a:defRPr>
            </a:pPr>
            <a:r>
              <a:t>Researchers immediately read internal meaning in human English without interpreting neuron indices or activation histograms.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10912" y="1298448"/>
            <a:ext cx="6446520" cy="5120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tep1_click_token_fr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408176"/>
            <a:ext cx="6227064" cy="490118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8"/>
          </a:solidFill>
          <a:ln>
            <a:solidFill>
              <a:srgbClr val="F7FA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68580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EF4444"/>
                </a:solidFill>
                <a:latin typeface="Arial"/>
              </a:defRPr>
            </a:pPr>
            <a:r>
              <a:t>STEP 2 OF 10 · RED CIRCLE: BUTTON '⚡ STEER THIS CONCEPT IN CARD 2'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111815"/>
                </a:solidFill>
                <a:latin typeface="Arial"/>
              </a:defRPr>
            </a:pPr>
            <a:r>
              <a:t>Step 2: Bridging Interpretation to Steering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98448"/>
            <a:ext cx="4114800" cy="5120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28600"/>
          <a:lstStyle/>
          <a:p>
            <a:pPr algn="ctr">
              <a:spcAft>
                <a:spcPts val="800"/>
              </a:spcAft>
              <a:defRPr sz="1100" b="1">
                <a:solidFill>
                  <a:srgbClr val="EF4444"/>
                </a:solidFill>
                <a:latin typeface="Arial"/>
              </a:defRPr>
            </a:pPr>
            <a:r>
              <a:t>🔴 RED CIRCLE CLICK: Button '⚡ Steer This Concept in Card 2'</a:t>
            </a:r>
          </a:p>
          <a:p>
            <a:pPr>
              <a:defRPr sz="1050" b="1">
                <a:solidFill>
                  <a:srgbClr val="047857"/>
                </a:solidFill>
                <a:latin typeface="Arial"/>
              </a:defRPr>
            </a:pPr>
            <a:r>
              <a:t>My Action as User</a:t>
            </a:r>
          </a:p>
          <a:p>
            <a:pPr>
              <a:spcAft>
                <a:spcPts val="700"/>
              </a:spcAft>
              <a:defRPr sz="950">
                <a:solidFill>
                  <a:srgbClr val="4B5563"/>
                </a:solidFill>
                <a:latin typeface="Arial"/>
              </a:defRPr>
            </a:pPr>
            <a:r>
              <a:t>In Card 1, I click the green quick-action button '⚡ Steer This Concept in Card 2'.</a:t>
            </a:r>
          </a:p>
          <a:p>
            <a:pPr>
              <a:defRPr sz="1050" b="1">
                <a:solidFill>
                  <a:srgbClr val="047857"/>
                </a:solidFill>
                <a:latin typeface="Arial"/>
              </a:defRPr>
            </a:pPr>
            <a:r>
              <a:t>What I See</a:t>
            </a:r>
          </a:p>
          <a:p>
            <a:pPr>
              <a:spcAft>
                <a:spcPts val="700"/>
              </a:spcAft>
              <a:defRPr sz="950">
                <a:solidFill>
                  <a:srgbClr val="4B5563"/>
                </a:solidFill>
                <a:latin typeface="Arial"/>
              </a:defRPr>
            </a:pPr>
            <a:r>
              <a:t>The concept description is copied straight into the Card 2 concept input, and a confirmation toast appears: 'Concept copied to Steer card'.</a:t>
            </a:r>
          </a:p>
          <a:p>
            <a:pPr>
              <a:defRPr sz="1050" b="1">
                <a:solidFill>
                  <a:srgbClr val="047857"/>
                </a:solidFill>
                <a:latin typeface="Arial"/>
              </a:defRPr>
            </a:pPr>
            <a:r>
              <a:t>Seamless Interaction</a:t>
            </a:r>
          </a:p>
          <a:p>
            <a:pPr>
              <a:spcAft>
                <a:spcPts val="700"/>
              </a:spcAft>
              <a:defRPr sz="950">
                <a:solidFill>
                  <a:srgbClr val="4B5563"/>
                </a:solidFill>
                <a:latin typeface="Arial"/>
              </a:defRPr>
            </a:pPr>
            <a:r>
              <a:t>Eliminates tedious manual copy-pasting or re-typing between explanation and steering.</a:t>
            </a:r>
          </a:p>
          <a:p>
            <a:pPr>
              <a:defRPr sz="1050" b="1">
                <a:solidFill>
                  <a:srgbClr val="047857"/>
                </a:solidFill>
                <a:latin typeface="Arial"/>
              </a:defRPr>
            </a:pPr>
            <a:r>
              <a:t>Why It Matters</a:t>
            </a:r>
          </a:p>
          <a:p>
            <a:pPr>
              <a:spcAft>
                <a:spcPts val="700"/>
              </a:spcAft>
              <a:defRPr sz="950">
                <a:solidFill>
                  <a:srgbClr val="4B5563"/>
                </a:solidFill>
                <a:latin typeface="Arial"/>
              </a:defRPr>
            </a:pPr>
            <a:r>
              <a:t>Enables rapid hypothesis formulation: inspect a concept, then immediately test what happens if you steer it.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10912" y="1298448"/>
            <a:ext cx="6446520" cy="5120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tep2_click_steer_this_conce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408176"/>
            <a:ext cx="6227064" cy="490118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8"/>
          </a:solidFill>
          <a:ln>
            <a:solidFill>
              <a:srgbClr val="F7FA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68580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EF4444"/>
                </a:solidFill>
                <a:latin typeface="Arial"/>
              </a:defRPr>
            </a:pPr>
            <a:r>
              <a:t>STEP 3 OF 10 · RED CIRCLE: WORD PILL 'IS' (POSITION 4)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111815"/>
                </a:solidFill>
                <a:latin typeface="Arial"/>
              </a:defRPr>
            </a:pPr>
            <a:r>
              <a:t>Step 3: Focusing on the Prediction Node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98448"/>
            <a:ext cx="4114800" cy="5120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28600"/>
          <a:lstStyle/>
          <a:p>
            <a:pPr algn="ctr">
              <a:spcAft>
                <a:spcPts val="800"/>
              </a:spcAft>
              <a:defRPr sz="1100" b="1">
                <a:solidFill>
                  <a:srgbClr val="EF4444"/>
                </a:solidFill>
                <a:latin typeface="Arial"/>
              </a:defRPr>
            </a:pPr>
            <a:r>
              <a:t>🔴 RED CIRCLE CLICK: Word Pill 'is' (Position 4)</a:t>
            </a:r>
          </a:p>
          <a:p>
            <a:pPr>
              <a:defRPr sz="1050" b="1">
                <a:solidFill>
                  <a:srgbClr val="047857"/>
                </a:solidFill>
                <a:latin typeface="Arial"/>
              </a:defRPr>
            </a:pPr>
            <a:r>
              <a:t>My Action as User</a:t>
            </a:r>
          </a:p>
          <a:p>
            <a:pPr>
              <a:spcAft>
                <a:spcPts val="700"/>
              </a:spcAft>
              <a:defRPr sz="950">
                <a:solidFill>
                  <a:srgbClr val="4B5563"/>
                </a:solidFill>
                <a:latin typeface="Arial"/>
              </a:defRPr>
            </a:pPr>
            <a:r>
              <a:t>I click on the word pill 'is' (Position 4) right before the model produces the answer.</a:t>
            </a:r>
          </a:p>
          <a:p>
            <a:pPr>
              <a:defRPr sz="1050" b="1">
                <a:solidFill>
                  <a:srgbClr val="047857"/>
                </a:solidFill>
                <a:latin typeface="Arial"/>
              </a:defRPr>
            </a:pPr>
            <a:r>
              <a:t>What I See</a:t>
            </a:r>
          </a:p>
          <a:p>
            <a:pPr>
              <a:spcAft>
                <a:spcPts val="700"/>
              </a:spcAft>
              <a:defRPr sz="950">
                <a:solidFill>
                  <a:srgbClr val="4B5563"/>
                </a:solidFill>
                <a:latin typeface="Arial"/>
              </a:defRPr>
            </a:pPr>
            <a:r>
              <a:t>Card 1 updates to show: 'Predicting Paris as the capital city of France' with 99% activation strength.</a:t>
            </a:r>
          </a:p>
          <a:p>
            <a:pPr>
              <a:defRPr sz="1050" b="1">
                <a:solidFill>
                  <a:srgbClr val="047857"/>
                </a:solidFill>
                <a:latin typeface="Arial"/>
              </a:defRPr>
            </a:pPr>
            <a:r>
              <a:t>Mechanistic Insight</a:t>
            </a:r>
          </a:p>
          <a:p>
            <a:pPr>
              <a:spcAft>
                <a:spcPts val="700"/>
              </a:spcAft>
              <a:defRPr sz="950">
                <a:solidFill>
                  <a:srgbClr val="4B5563"/>
                </a:solidFill>
                <a:latin typeface="Arial"/>
              </a:defRPr>
            </a:pPr>
            <a:r>
              <a:t>The model has gathered entity representations and is now actively retrieving the capital city token 'Paris'.</a:t>
            </a:r>
          </a:p>
          <a:p>
            <a:pPr>
              <a:defRPr sz="1050" b="1">
                <a:solidFill>
                  <a:srgbClr val="047857"/>
                </a:solidFill>
                <a:latin typeface="Arial"/>
              </a:defRPr>
            </a:pPr>
            <a:r>
              <a:t>Why It Matters</a:t>
            </a:r>
          </a:p>
          <a:p>
            <a:pPr>
              <a:spcAft>
                <a:spcPts val="700"/>
              </a:spcAft>
              <a:defRPr sz="950">
                <a:solidFill>
                  <a:srgbClr val="4B5563"/>
                </a:solidFill>
                <a:latin typeface="Arial"/>
              </a:defRPr>
            </a:pPr>
            <a:r>
              <a:t>Identifies the exact causal decision point where the model commits to its factual output.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10912" y="1298448"/>
            <a:ext cx="6446520" cy="5120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tep3_click_token_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408176"/>
            <a:ext cx="6227064" cy="490118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8"/>
          </a:solidFill>
          <a:ln>
            <a:solidFill>
              <a:srgbClr val="F7FA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68580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EF4444"/>
                </a:solidFill>
                <a:latin typeface="Arial"/>
              </a:defRPr>
            </a:pPr>
            <a:r>
              <a:t>STEP 4 OF 10 · RED CIRCLE: PRESET PILL '📌 TOKYO STEER'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111815"/>
                </a:solidFill>
                <a:latin typeface="Arial"/>
              </a:defRPr>
            </a:pPr>
            <a:r>
              <a:t>Step 4: Selecting a Counterfactual Steer Preset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98448"/>
            <a:ext cx="4114800" cy="5120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28600"/>
          <a:lstStyle/>
          <a:p>
            <a:pPr algn="ctr">
              <a:spcAft>
                <a:spcPts val="800"/>
              </a:spcAft>
              <a:defRPr sz="1100" b="1">
                <a:solidFill>
                  <a:srgbClr val="EF4444"/>
                </a:solidFill>
                <a:latin typeface="Arial"/>
              </a:defRPr>
            </a:pPr>
            <a:r>
              <a:t>🔴 RED CIRCLE CLICK: Preset Pill '📌 Tokyo Steer'</a:t>
            </a:r>
          </a:p>
          <a:p>
            <a:pPr>
              <a:defRPr sz="1050" b="1">
                <a:solidFill>
                  <a:srgbClr val="047857"/>
                </a:solidFill>
                <a:latin typeface="Arial"/>
              </a:defRPr>
            </a:pPr>
            <a:r>
              <a:t>My Action as User</a:t>
            </a:r>
          </a:p>
          <a:p>
            <a:pPr>
              <a:spcAft>
                <a:spcPts val="700"/>
              </a:spcAft>
              <a:defRPr sz="950">
                <a:solidFill>
                  <a:srgbClr val="4B5563"/>
                </a:solidFill>
                <a:latin typeface="Arial"/>
              </a:defRPr>
            </a:pPr>
            <a:r>
              <a:t>In Card 2, I click the saved preset pill '📌 Tokyo Steer'.</a:t>
            </a:r>
          </a:p>
          <a:p>
            <a:pPr>
              <a:defRPr sz="1050" b="1">
                <a:solidFill>
                  <a:srgbClr val="047857"/>
                </a:solidFill>
                <a:latin typeface="Arial"/>
              </a:defRPr>
            </a:pPr>
            <a:r>
              <a:t>What I See</a:t>
            </a:r>
          </a:p>
          <a:p>
            <a:pPr>
              <a:spcAft>
                <a:spcPts val="700"/>
              </a:spcAft>
              <a:defRPr sz="950">
                <a:solidFill>
                  <a:srgbClr val="4B5563"/>
                </a:solidFill>
                <a:latin typeface="Arial"/>
              </a:defRPr>
            </a:pPr>
            <a:r>
              <a:t>Concept input changes to 'Tokyo / Japan', slider sets to 1.00x Boost, and the intervention executes instantly.</a:t>
            </a:r>
          </a:p>
          <a:p>
            <a:pPr>
              <a:defRPr sz="1050" b="1">
                <a:solidFill>
                  <a:srgbClr val="047857"/>
                </a:solidFill>
                <a:latin typeface="Arial"/>
              </a:defRPr>
            </a:pPr>
            <a:r>
              <a:t>Toast Feedback</a:t>
            </a:r>
          </a:p>
          <a:p>
            <a:pPr>
              <a:spcAft>
                <a:spcPts val="700"/>
              </a:spcAft>
              <a:defRPr sz="950">
                <a:solidFill>
                  <a:srgbClr val="4B5563"/>
                </a:solidFill>
                <a:latin typeface="Arial"/>
              </a:defRPr>
            </a:pPr>
            <a:r>
              <a:t>A notification confirms: 'Applied steer: Tokyo / Japan'.</a:t>
            </a:r>
          </a:p>
          <a:p>
            <a:pPr>
              <a:defRPr sz="1050" b="1">
                <a:solidFill>
                  <a:srgbClr val="047857"/>
                </a:solidFill>
                <a:latin typeface="Arial"/>
              </a:defRPr>
            </a:pPr>
            <a:r>
              <a:t>Why It Matters</a:t>
            </a:r>
          </a:p>
          <a:p>
            <a:pPr>
              <a:spcAft>
                <a:spcPts val="700"/>
              </a:spcAft>
              <a:defRPr sz="950">
                <a:solidFill>
                  <a:srgbClr val="4B5563"/>
                </a:solidFill>
                <a:latin typeface="Arial"/>
              </a:defRPr>
            </a:pPr>
            <a:r>
              <a:t>Presets allow one-click testing of established vectors without configuring sliders from scratch.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10912" y="1298448"/>
            <a:ext cx="6446520" cy="5120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tep4_click_tokyo_ste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408176"/>
            <a:ext cx="6227064" cy="490118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8"/>
          </a:solidFill>
          <a:ln>
            <a:solidFill>
              <a:srgbClr val="F7FA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68580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EF4444"/>
                </a:solidFill>
                <a:latin typeface="Arial"/>
              </a:defRPr>
            </a:pPr>
            <a:r>
              <a:t>STEP 5 OF 10 · RED CIRCLE: PRIMARY BUTTON [ APPLY STEER 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111815"/>
                </a:solidFill>
                <a:latin typeface="Arial"/>
              </a:defRPr>
            </a:pPr>
            <a:r>
              <a:t>Step 5: Inspecting Side-by-Side Steered Output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98448"/>
            <a:ext cx="4114800" cy="5120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28600"/>
          <a:lstStyle/>
          <a:p>
            <a:pPr algn="ctr">
              <a:spcAft>
                <a:spcPts val="800"/>
              </a:spcAft>
              <a:defRPr sz="1100" b="1">
                <a:solidFill>
                  <a:srgbClr val="EF4444"/>
                </a:solidFill>
                <a:latin typeface="Arial"/>
              </a:defRPr>
            </a:pPr>
            <a:r>
              <a:t>🔴 RED CIRCLE CLICK: Primary Button [ Apply Steer ]</a:t>
            </a:r>
          </a:p>
          <a:p>
            <a:pPr>
              <a:defRPr sz="1050" b="1">
                <a:solidFill>
                  <a:srgbClr val="047857"/>
                </a:solidFill>
                <a:latin typeface="Arial"/>
              </a:defRPr>
            </a:pPr>
            <a:r>
              <a:t>My Action as User</a:t>
            </a:r>
          </a:p>
          <a:p>
            <a:pPr>
              <a:spcAft>
                <a:spcPts val="700"/>
              </a:spcAft>
              <a:defRPr sz="950">
                <a:solidFill>
                  <a:srgbClr val="4B5563"/>
                </a:solidFill>
                <a:latin typeface="Arial"/>
              </a:defRPr>
            </a:pPr>
            <a:r>
              <a:t>I click '[ Apply Steer ]' after fine-tuning intensity.</a:t>
            </a:r>
          </a:p>
          <a:p>
            <a:pPr>
              <a:defRPr sz="1050" b="1">
                <a:solidFill>
                  <a:srgbClr val="047857"/>
                </a:solidFill>
                <a:latin typeface="Arial"/>
              </a:defRPr>
            </a:pPr>
            <a:r>
              <a:t>What I See Side-by-Side</a:t>
            </a:r>
          </a:p>
          <a:p>
            <a:pPr>
              <a:spcAft>
                <a:spcPts val="700"/>
              </a:spcAft>
              <a:defRPr sz="950">
                <a:solidFill>
                  <a:srgbClr val="4B5563"/>
                </a:solidFill>
                <a:latin typeface="Arial"/>
              </a:defRPr>
            </a:pPr>
            <a:r>
              <a:t>• Default Output: 'The capital of France is Paris, the country's most populous city.'</a:t>
            </a:r>
            <a:br/>
            <a:r>
              <a:t>• Steered Output: 'The capital of France is Tokyo, in an alternate world where Japan and France united.'</a:t>
            </a:r>
          </a:p>
          <a:p>
            <a:pPr>
              <a:defRPr sz="1050" b="1">
                <a:solidFill>
                  <a:srgbClr val="047857"/>
                </a:solidFill>
                <a:latin typeface="Arial"/>
              </a:defRPr>
            </a:pPr>
            <a:r>
              <a:t>Diff Explanation Banner</a:t>
            </a:r>
          </a:p>
          <a:p>
            <a:pPr>
              <a:spcAft>
                <a:spcPts val="700"/>
              </a:spcAft>
              <a:defRPr sz="950">
                <a:solidFill>
                  <a:srgbClr val="4B5563"/>
                </a:solidFill>
                <a:latin typeface="Arial"/>
              </a:defRPr>
            </a:pPr>
            <a:r>
              <a:t>'Replaced Paris fact retrieval with Tokyo / Japan entity representation'.</a:t>
            </a:r>
          </a:p>
          <a:p>
            <a:pPr>
              <a:defRPr sz="1050" b="1">
                <a:solidFill>
                  <a:srgbClr val="047857"/>
                </a:solidFill>
                <a:latin typeface="Arial"/>
              </a:defRPr>
            </a:pPr>
            <a:r>
              <a:t>Why It Matters</a:t>
            </a:r>
          </a:p>
          <a:p>
            <a:pPr>
              <a:spcAft>
                <a:spcPts val="700"/>
              </a:spcAft>
              <a:defRPr sz="950">
                <a:solidFill>
                  <a:srgbClr val="4B5563"/>
                </a:solidFill>
                <a:latin typeface="Arial"/>
              </a:defRPr>
            </a:pPr>
            <a:r>
              <a:t>Side-by-side comparison makes causal behavioral changes immediately obvious.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10912" y="1298448"/>
            <a:ext cx="6446520" cy="5120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tep5_click_apply_ste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408176"/>
            <a:ext cx="6227064" cy="490118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8"/>
          </a:solidFill>
          <a:ln>
            <a:solidFill>
              <a:srgbClr val="F7FA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68580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EF4444"/>
                </a:solidFill>
                <a:latin typeface="Arial"/>
              </a:defRPr>
            </a:pPr>
            <a:r>
              <a:t>STEP 6 OF 10 · RED CIRCLE: PRESET PILL '🚫 SUPPRESS PARIS'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111815"/>
                </a:solidFill>
                <a:latin typeface="Arial"/>
              </a:defRPr>
            </a:pPr>
            <a:r>
              <a:t>Step 6: Negative Steering &amp; Thought Suppression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98448"/>
            <a:ext cx="4114800" cy="5120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28600"/>
          <a:lstStyle/>
          <a:p>
            <a:pPr algn="ctr">
              <a:spcAft>
                <a:spcPts val="800"/>
              </a:spcAft>
              <a:defRPr sz="1100" b="1">
                <a:solidFill>
                  <a:srgbClr val="EF4444"/>
                </a:solidFill>
                <a:latin typeface="Arial"/>
              </a:defRPr>
            </a:pPr>
            <a:r>
              <a:t>🔴 RED CIRCLE CLICK: Preset Pill '🚫 Suppress Paris'</a:t>
            </a:r>
          </a:p>
          <a:p>
            <a:pPr>
              <a:defRPr sz="1050" b="1">
                <a:solidFill>
                  <a:srgbClr val="047857"/>
                </a:solidFill>
                <a:latin typeface="Arial"/>
              </a:defRPr>
            </a:pPr>
            <a:r>
              <a:t>My Action as User</a:t>
            </a:r>
          </a:p>
          <a:p>
            <a:pPr>
              <a:spcAft>
                <a:spcPts val="700"/>
              </a:spcAft>
              <a:defRPr sz="950">
                <a:solidFill>
                  <a:srgbClr val="4B5563"/>
                </a:solidFill>
                <a:latin typeface="Arial"/>
              </a:defRPr>
            </a:pPr>
            <a:r>
              <a:t>I click the preset pill '🚫 Suppress Paris' to inhibit the active certainty node.</a:t>
            </a:r>
          </a:p>
          <a:p>
            <a:pPr>
              <a:defRPr sz="1050" b="1">
                <a:solidFill>
                  <a:srgbClr val="047857"/>
                </a:solidFill>
                <a:latin typeface="Arial"/>
              </a:defRPr>
            </a:pPr>
            <a:r>
              <a:t>What I See</a:t>
            </a:r>
          </a:p>
          <a:p>
            <a:pPr>
              <a:spcAft>
                <a:spcPts val="700"/>
              </a:spcAft>
              <a:defRPr sz="950">
                <a:solidFill>
                  <a:srgbClr val="4B5563"/>
                </a:solidFill>
                <a:latin typeface="Arial"/>
              </a:defRPr>
            </a:pPr>
            <a:r>
              <a:t>Steered output shifts to descriptive fallback: 'The capital of France is a historic European city renowned for culture and architecture.'</a:t>
            </a:r>
          </a:p>
          <a:p>
            <a:pPr>
              <a:defRPr sz="1050" b="1">
                <a:solidFill>
                  <a:srgbClr val="047857"/>
                </a:solidFill>
                <a:latin typeface="Arial"/>
              </a:defRPr>
            </a:pPr>
            <a:r>
              <a:t>Model Behavior</a:t>
            </a:r>
          </a:p>
          <a:p>
            <a:pPr>
              <a:spcAft>
                <a:spcPts val="700"/>
              </a:spcAft>
              <a:defRPr sz="950">
                <a:solidFill>
                  <a:srgbClr val="4B5563"/>
                </a:solidFill>
                <a:latin typeface="Arial"/>
              </a:defRPr>
            </a:pPr>
            <a:r>
              <a:t>The model eliminates the specific token 'Paris' while maintaining grammatical coherence.</a:t>
            </a:r>
          </a:p>
          <a:p>
            <a:pPr>
              <a:defRPr sz="1050" b="1">
                <a:solidFill>
                  <a:srgbClr val="047857"/>
                </a:solidFill>
                <a:latin typeface="Arial"/>
              </a:defRPr>
            </a:pPr>
            <a:r>
              <a:t>Why It Matters</a:t>
            </a:r>
          </a:p>
          <a:p>
            <a:pPr>
              <a:spcAft>
                <a:spcPts val="700"/>
              </a:spcAft>
              <a:defRPr sz="950">
                <a:solidFill>
                  <a:srgbClr val="4B5563"/>
                </a:solidFill>
                <a:latin typeface="Arial"/>
              </a:defRPr>
            </a:pPr>
            <a:r>
              <a:t>Verifies model behavior under factual suppression without fine-tuning or weight retraining.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10912" y="1298448"/>
            <a:ext cx="6446520" cy="5120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tep6_click_suppress_par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408176"/>
            <a:ext cx="6227064" cy="490118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8"/>
          </a:solidFill>
          <a:ln>
            <a:solidFill>
              <a:srgbClr val="F7FA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68580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EF4444"/>
                </a:solidFill>
                <a:latin typeface="Arial"/>
              </a:defRPr>
            </a:pPr>
            <a:r>
              <a:t>STEP 7 OF 10 · RED CIRCLE: BUTTON [ SAVE STEER ] IN CARD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111815"/>
                </a:solidFill>
                <a:latin typeface="Arial"/>
              </a:defRPr>
            </a:pPr>
            <a:r>
              <a:t>Step 7: Saving Custom Steer Presets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98448"/>
            <a:ext cx="4114800" cy="5120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28600"/>
          <a:lstStyle/>
          <a:p>
            <a:pPr algn="ctr">
              <a:spcAft>
                <a:spcPts val="800"/>
              </a:spcAft>
              <a:defRPr sz="1100" b="1">
                <a:solidFill>
                  <a:srgbClr val="EF4444"/>
                </a:solidFill>
                <a:latin typeface="Arial"/>
              </a:defRPr>
            </a:pPr>
            <a:r>
              <a:t>🔴 RED CIRCLE CLICK: Button [ Save Steer ] in Card 2</a:t>
            </a:r>
          </a:p>
          <a:p>
            <a:pPr>
              <a:defRPr sz="1050" b="1">
                <a:solidFill>
                  <a:srgbClr val="047857"/>
                </a:solidFill>
                <a:latin typeface="Arial"/>
              </a:defRPr>
            </a:pPr>
            <a:r>
              <a:t>My Action as User</a:t>
            </a:r>
          </a:p>
          <a:p>
            <a:pPr>
              <a:spcAft>
                <a:spcPts val="700"/>
              </a:spcAft>
              <a:defRPr sz="950">
                <a:solidFill>
                  <a:srgbClr val="4B5563"/>
                </a:solidFill>
                <a:latin typeface="Arial"/>
              </a:defRPr>
            </a:pPr>
            <a:r>
              <a:t>I configure a new steering concept and click '[ Save Steer ]'.</a:t>
            </a:r>
          </a:p>
          <a:p>
            <a:pPr>
              <a:defRPr sz="1050" b="1">
                <a:solidFill>
                  <a:srgbClr val="047857"/>
                </a:solidFill>
                <a:latin typeface="Arial"/>
              </a:defRPr>
            </a:pPr>
            <a:r>
              <a:t>What I See</a:t>
            </a:r>
          </a:p>
          <a:p>
            <a:pPr>
              <a:spcAft>
                <a:spcPts val="700"/>
              </a:spcAft>
              <a:defRPr sz="950">
                <a:solidFill>
                  <a:srgbClr val="4B5563"/>
                </a:solidFill>
                <a:latin typeface="Arial"/>
              </a:defRPr>
            </a:pPr>
            <a:r>
              <a:t>A prompt requests a preset name, and the new preset appears as a clickable pill with a delete button (×).</a:t>
            </a:r>
          </a:p>
          <a:p>
            <a:pPr>
              <a:defRPr sz="1050" b="1">
                <a:solidFill>
                  <a:srgbClr val="047857"/>
                </a:solidFill>
                <a:latin typeface="Arial"/>
              </a:defRPr>
            </a:pPr>
            <a:r>
              <a:t>Preservation</a:t>
            </a:r>
          </a:p>
          <a:p>
            <a:pPr>
              <a:spcAft>
                <a:spcPts val="700"/>
              </a:spcAft>
              <a:defRPr sz="950">
                <a:solidFill>
                  <a:srgbClr val="4B5563"/>
                </a:solidFill>
                <a:latin typeface="Arial"/>
              </a:defRPr>
            </a:pPr>
            <a:r>
              <a:t>Stored directly in Card 2's presets row for immediate reuse.</a:t>
            </a:r>
          </a:p>
          <a:p>
            <a:pPr>
              <a:defRPr sz="1050" b="1">
                <a:solidFill>
                  <a:srgbClr val="047857"/>
                </a:solidFill>
                <a:latin typeface="Arial"/>
              </a:defRPr>
            </a:pPr>
            <a:r>
              <a:t>Why It Matters</a:t>
            </a:r>
          </a:p>
          <a:p>
            <a:pPr>
              <a:spcAft>
                <a:spcPts val="700"/>
              </a:spcAft>
              <a:defRPr sz="950">
                <a:solidFill>
                  <a:srgbClr val="4B5563"/>
                </a:solidFill>
                <a:latin typeface="Arial"/>
              </a:defRPr>
            </a:pPr>
            <a:r>
              <a:t>Allows researchers to curate a personal library of validated concept steering vectors.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10912" y="1298448"/>
            <a:ext cx="6446520" cy="5120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tep7_click_save_ste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408176"/>
            <a:ext cx="6227064" cy="490118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8"/>
          </a:solidFill>
          <a:ln>
            <a:solidFill>
              <a:srgbClr val="F7FA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68580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EF4444"/>
                </a:solidFill>
                <a:latin typeface="Arial"/>
              </a:defRPr>
            </a:pPr>
            <a:r>
              <a:t>STEP 8 OF 10 · RED CIRCLE: HEADER PILL 'GPT2-FINETUNED.PT'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111815"/>
                </a:solidFill>
                <a:latin typeface="Arial"/>
              </a:defRPr>
            </a:pPr>
            <a:r>
              <a:t>Step 8: Cross-Model Checkpoint Switching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98448"/>
            <a:ext cx="4114800" cy="5120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28600"/>
          <a:lstStyle/>
          <a:p>
            <a:pPr algn="ctr">
              <a:spcAft>
                <a:spcPts val="800"/>
              </a:spcAft>
              <a:defRPr sz="1100" b="1">
                <a:solidFill>
                  <a:srgbClr val="EF4444"/>
                </a:solidFill>
                <a:latin typeface="Arial"/>
              </a:defRPr>
            </a:pPr>
            <a:r>
              <a:t>🔴 RED CIRCLE CLICK: Header Pill 'gpt2-finetuned.pt'</a:t>
            </a:r>
          </a:p>
          <a:p>
            <a:pPr>
              <a:defRPr sz="1050" b="1">
                <a:solidFill>
                  <a:srgbClr val="047857"/>
                </a:solidFill>
                <a:latin typeface="Arial"/>
              </a:defRPr>
            </a:pPr>
            <a:r>
              <a:t>My Action as User</a:t>
            </a:r>
          </a:p>
          <a:p>
            <a:pPr>
              <a:spcAft>
                <a:spcPts val="700"/>
              </a:spcAft>
              <a:defRPr sz="950">
                <a:solidFill>
                  <a:srgbClr val="4B5563"/>
                </a:solidFill>
                <a:latin typeface="Arial"/>
              </a:defRPr>
            </a:pPr>
            <a:r>
              <a:t>In the top header, I click the model pill 'gpt2-finetuned.pt'.</a:t>
            </a:r>
          </a:p>
          <a:p>
            <a:pPr>
              <a:defRPr sz="1050" b="1">
                <a:solidFill>
                  <a:srgbClr val="047857"/>
                </a:solidFill>
                <a:latin typeface="Arial"/>
              </a:defRPr>
            </a:pPr>
            <a:r>
              <a:t>What I See</a:t>
            </a:r>
          </a:p>
          <a:p>
            <a:pPr>
              <a:spcAft>
                <a:spcPts val="700"/>
              </a:spcAft>
              <a:defRPr sz="950">
                <a:solidFill>
                  <a:srgbClr val="4B5563"/>
                </a:solidFill>
                <a:latin typeface="Arial"/>
              </a:defRPr>
            </a:pPr>
            <a:r>
              <a:t>Active Model pill switches to gpt2-finetuned.pt. The session stays intact with zero page reload.</a:t>
            </a:r>
          </a:p>
          <a:p>
            <a:pPr>
              <a:defRPr sz="1050" b="1">
                <a:solidFill>
                  <a:srgbClr val="047857"/>
                </a:solidFill>
                <a:latin typeface="Arial"/>
              </a:defRPr>
            </a:pPr>
            <a:r>
              <a:t>Preset Persistence</a:t>
            </a:r>
          </a:p>
          <a:p>
            <a:pPr>
              <a:spcAft>
                <a:spcPts val="700"/>
              </a:spcAft>
              <a:defRPr sz="950">
                <a:solidFill>
                  <a:srgbClr val="4B5563"/>
                </a:solidFill>
                <a:latin typeface="Arial"/>
              </a:defRPr>
            </a:pPr>
            <a:r>
              <a:t>All saved steer presets (Tokyo, Berlin, Suppress Paris) remain active in Card 2.</a:t>
            </a:r>
          </a:p>
          <a:p>
            <a:pPr>
              <a:defRPr sz="1050" b="1">
                <a:solidFill>
                  <a:srgbClr val="047857"/>
                </a:solidFill>
                <a:latin typeface="Arial"/>
              </a:defRPr>
            </a:pPr>
            <a:r>
              <a:t>Why It Matters</a:t>
            </a:r>
          </a:p>
          <a:p>
            <a:pPr>
              <a:spcAft>
                <a:spcPts val="700"/>
              </a:spcAft>
              <a:defRPr sz="950">
                <a:solidFill>
                  <a:srgbClr val="4B5563"/>
                </a:solidFill>
                <a:latin typeface="Arial"/>
              </a:defRPr>
            </a:pPr>
            <a:r>
              <a:t>Core User Story 4: Verify whether discovered steering vectors transfer across different checkpoints.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10912" y="1298448"/>
            <a:ext cx="6446520" cy="5120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tep8_click_switch_mod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408176"/>
            <a:ext cx="6227064" cy="490118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8"/>
          </a:solidFill>
          <a:ln>
            <a:solidFill>
              <a:srgbClr val="F7FA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68580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EF4444"/>
                </a:solidFill>
                <a:latin typeface="Arial"/>
              </a:defRPr>
            </a:pPr>
            <a:r>
              <a:t>STEP 9 OF 10 · RED CIRCLE: HEADER BUTTON [ + UPLOAD .PT 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111815"/>
                </a:solidFill>
                <a:latin typeface="Arial"/>
              </a:defRPr>
            </a:pPr>
            <a:r>
              <a:t>Step 9: Uploading Custom .pt Checkpoints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98448"/>
            <a:ext cx="4114800" cy="5120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28600"/>
          <a:lstStyle/>
          <a:p>
            <a:pPr algn="ctr">
              <a:spcAft>
                <a:spcPts val="800"/>
              </a:spcAft>
              <a:defRPr sz="1100" b="1">
                <a:solidFill>
                  <a:srgbClr val="EF4444"/>
                </a:solidFill>
                <a:latin typeface="Arial"/>
              </a:defRPr>
            </a:pPr>
            <a:r>
              <a:t>🔴 RED CIRCLE CLICK: Header Button [ + Upload .pt ]</a:t>
            </a:r>
          </a:p>
          <a:p>
            <a:pPr>
              <a:defRPr sz="1050" b="1">
                <a:solidFill>
                  <a:srgbClr val="047857"/>
                </a:solidFill>
                <a:latin typeface="Arial"/>
              </a:defRPr>
            </a:pPr>
            <a:r>
              <a:t>My Action as User</a:t>
            </a:r>
          </a:p>
          <a:p>
            <a:pPr>
              <a:spcAft>
                <a:spcPts val="700"/>
              </a:spcAft>
              <a:defRPr sz="950">
                <a:solidFill>
                  <a:srgbClr val="4B5563"/>
                </a:solidFill>
                <a:latin typeface="Arial"/>
              </a:defRPr>
            </a:pPr>
            <a:r>
              <a:t>I click the dashed '[ + Upload .pt ]' button in the top header.</a:t>
            </a:r>
          </a:p>
          <a:p>
            <a:pPr>
              <a:defRPr sz="1050" b="1">
                <a:solidFill>
                  <a:srgbClr val="047857"/>
                </a:solidFill>
                <a:latin typeface="Arial"/>
              </a:defRPr>
            </a:pPr>
            <a:r>
              <a:t>What I See</a:t>
            </a:r>
          </a:p>
          <a:p>
            <a:pPr>
              <a:spcAft>
                <a:spcPts val="700"/>
              </a:spcAft>
              <a:defRPr sz="950">
                <a:solidFill>
                  <a:srgbClr val="4B5563"/>
                </a:solidFill>
                <a:latin typeface="Arial"/>
              </a:defRPr>
            </a:pPr>
            <a:r>
              <a:t>File picker opens to select custom weights. Upload handler registers checkpoint and activates it in the model pill group.</a:t>
            </a:r>
          </a:p>
          <a:p>
            <a:pPr>
              <a:defRPr sz="1050" b="1">
                <a:solidFill>
                  <a:srgbClr val="047857"/>
                </a:solidFill>
                <a:latin typeface="Arial"/>
              </a:defRPr>
            </a:pPr>
            <a:r>
              <a:t>Zero Overhead</a:t>
            </a:r>
          </a:p>
          <a:p>
            <a:pPr>
              <a:spcAft>
                <a:spcPts val="700"/>
              </a:spcAft>
              <a:defRPr sz="950">
                <a:solidFill>
                  <a:srgbClr val="4B5563"/>
                </a:solidFill>
                <a:latin typeface="Arial"/>
              </a:defRPr>
            </a:pPr>
            <a:r>
              <a:t>Operates seamlessly with CPU/mock fallback before full GPU backend is loaded.</a:t>
            </a:r>
          </a:p>
          <a:p>
            <a:pPr>
              <a:defRPr sz="1050" b="1">
                <a:solidFill>
                  <a:srgbClr val="047857"/>
                </a:solidFill>
                <a:latin typeface="Arial"/>
              </a:defRPr>
            </a:pPr>
            <a:r>
              <a:t>Why It Matters</a:t>
            </a:r>
          </a:p>
          <a:p>
            <a:pPr>
              <a:spcAft>
                <a:spcPts val="700"/>
              </a:spcAft>
              <a:defRPr sz="950">
                <a:solidFill>
                  <a:srgbClr val="4B5563"/>
                </a:solidFill>
                <a:latin typeface="Arial"/>
              </a:defRPr>
            </a:pPr>
            <a:r>
              <a:t>Enables researchers to bring their own weights into the studio with one click.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10912" y="1298448"/>
            <a:ext cx="6446520" cy="5120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tep9_click_upload_checkpo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408176"/>
            <a:ext cx="6227064" cy="490118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8"/>
          </a:solidFill>
          <a:ln>
            <a:solidFill>
              <a:srgbClr val="F7FA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68580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EF4444"/>
                </a:solidFill>
                <a:latin typeface="Arial"/>
              </a:defRPr>
            </a:pPr>
            <a:r>
              <a:t>STEP 10 OF 10 · RED CIRCLE: BUTTON [ RESET BASELINE ] IN CARD 2 HEADER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111815"/>
                </a:solidFill>
                <a:latin typeface="Arial"/>
              </a:defRPr>
            </a:pPr>
            <a:r>
              <a:t>Step 10: Restoring Baseline Behavior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98448"/>
            <a:ext cx="4114800" cy="5120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28600"/>
          <a:lstStyle/>
          <a:p>
            <a:pPr algn="ctr">
              <a:spcAft>
                <a:spcPts val="800"/>
              </a:spcAft>
              <a:defRPr sz="1100" b="1">
                <a:solidFill>
                  <a:srgbClr val="EF4444"/>
                </a:solidFill>
                <a:latin typeface="Arial"/>
              </a:defRPr>
            </a:pPr>
            <a:r>
              <a:t>🔴 RED CIRCLE CLICK: Button [ Reset Baseline ] in Card 2 Header</a:t>
            </a:r>
          </a:p>
          <a:p>
            <a:pPr>
              <a:defRPr sz="1050" b="1">
                <a:solidFill>
                  <a:srgbClr val="047857"/>
                </a:solidFill>
                <a:latin typeface="Arial"/>
              </a:defRPr>
            </a:pPr>
            <a:r>
              <a:t>My Action as User</a:t>
            </a:r>
          </a:p>
          <a:p>
            <a:pPr>
              <a:spcAft>
                <a:spcPts val="700"/>
              </a:spcAft>
              <a:defRPr sz="950">
                <a:solidFill>
                  <a:srgbClr val="4B5563"/>
                </a:solidFill>
                <a:latin typeface="Arial"/>
              </a:defRPr>
            </a:pPr>
            <a:r>
              <a:t>I click '[ Reset Baseline ]' in the top-right corner of Card 2.</a:t>
            </a:r>
          </a:p>
          <a:p>
            <a:pPr>
              <a:defRPr sz="1050" b="1">
                <a:solidFill>
                  <a:srgbClr val="047857"/>
                </a:solidFill>
                <a:latin typeface="Arial"/>
              </a:defRPr>
            </a:pPr>
            <a:r>
              <a:t>What I See</a:t>
            </a:r>
          </a:p>
          <a:p>
            <a:pPr>
              <a:spcAft>
                <a:spcPts val="700"/>
              </a:spcAft>
              <a:defRPr sz="950">
                <a:solidFill>
                  <a:srgbClr val="4B5563"/>
                </a:solidFill>
                <a:latin typeface="Arial"/>
              </a:defRPr>
            </a:pPr>
            <a:r>
              <a:t>Active steering interventions are cleared. Steered output resets to match Default Model Output.</a:t>
            </a:r>
          </a:p>
          <a:p>
            <a:pPr>
              <a:defRPr sz="1050" b="1">
                <a:solidFill>
                  <a:srgbClr val="047857"/>
                </a:solidFill>
                <a:latin typeface="Arial"/>
              </a:defRPr>
            </a:pPr>
            <a:r>
              <a:t>Toast Feedback</a:t>
            </a:r>
          </a:p>
          <a:p>
            <a:pPr>
              <a:spcAft>
                <a:spcPts val="700"/>
              </a:spcAft>
              <a:defRPr sz="950">
                <a:solidFill>
                  <a:srgbClr val="4B5563"/>
                </a:solidFill>
                <a:latin typeface="Arial"/>
              </a:defRPr>
            </a:pPr>
            <a:r>
              <a:t>'Baseline model behavior restored'.</a:t>
            </a:r>
          </a:p>
          <a:p>
            <a:pPr>
              <a:defRPr sz="1050" b="1">
                <a:solidFill>
                  <a:srgbClr val="047857"/>
                </a:solidFill>
                <a:latin typeface="Arial"/>
              </a:defRPr>
            </a:pPr>
            <a:r>
              <a:t>Why It Matters</a:t>
            </a:r>
          </a:p>
          <a:p>
            <a:pPr>
              <a:spcAft>
                <a:spcPts val="700"/>
              </a:spcAft>
              <a:defRPr sz="950">
                <a:solidFill>
                  <a:srgbClr val="4B5563"/>
                </a:solidFill>
                <a:latin typeface="Arial"/>
              </a:defRPr>
            </a:pPr>
            <a:r>
              <a:t>Guarantees a clean, reproducible slate between sequential interpretability experiments.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10912" y="1298448"/>
            <a:ext cx="6446520" cy="5120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tep10_click_reset_bas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408176"/>
            <a:ext cx="6227064" cy="490118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8"/>
          </a:solidFill>
          <a:ln>
            <a:solidFill>
              <a:srgbClr val="F7FA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68580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EF4444"/>
                </a:solidFill>
                <a:latin typeface="Arial"/>
              </a:defRPr>
            </a:pPr>
            <a:r>
              <a:t>FINAL VERIFICATION · ALL TESTS PASSING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111815"/>
                </a:solidFill>
                <a:latin typeface="Arial"/>
              </a:defRPr>
            </a:pPr>
            <a:r>
              <a:t>Verification &amp; Test Summary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98448"/>
            <a:ext cx="525780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/>
          <a:lstStyle/>
          <a:p>
            <a:pPr algn="ctr">
              <a:defRPr sz="1200" b="1">
                <a:solidFill>
                  <a:srgbClr val="047857"/>
                </a:solidFill>
                <a:latin typeface="Arial"/>
              </a:defRPr>
            </a:pPr>
            <a:r>
              <a:t>Acceptance Tests (spec.md)</a:t>
            </a:r>
          </a:p>
          <a:p>
            <a:pPr>
              <a:spcAft>
                <a:spcPts val="400"/>
              </a:spcAft>
              <a:defRPr sz="1000" b="1">
                <a:solidFill>
                  <a:srgbClr val="111815"/>
                </a:solidFill>
                <a:latin typeface="Arial"/>
              </a:defRPr>
            </a:pPr>
            <a:r>
              <a:t>tests/test_web_ux.py · 4/4 Passing</a:t>
            </a:r>
          </a:p>
          <a:p>
            <a:pPr>
              <a:defRPr sz="950">
                <a:solidFill>
                  <a:srgbClr val="4B5563"/>
                </a:solidFill>
                <a:latin typeface="Arial"/>
              </a:defRPr>
            </a:pPr>
            <a:r>
              <a:t>Verified all user stories:</a:t>
            </a:r>
            <a:br/>
            <a:r>
              <a:t>• Story 1: Zero-setup pre-loaded arrival</a:t>
            </a:r>
            <a:br/>
            <a:r>
              <a:t>• Story 2: Plain-English concept readout</a:t>
            </a:r>
            <a:br/>
            <a:r>
              <a:t>• Story 3: Causal steering &amp; side-by-side diff</a:t>
            </a:r>
            <a:br/>
            <a:r>
              <a:t>• Story 4: Cross-model preset persistence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1298448"/>
            <a:ext cx="525780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/>
          <a:lstStyle/>
          <a:p>
            <a:pPr algn="ctr">
              <a:defRPr sz="1200" b="1">
                <a:solidFill>
                  <a:srgbClr val="047857"/>
                </a:solidFill>
                <a:latin typeface="Arial"/>
              </a:defRPr>
            </a:pPr>
            <a:r>
              <a:t>Repository Health</a:t>
            </a:r>
          </a:p>
          <a:p>
            <a:pPr>
              <a:spcAft>
                <a:spcPts val="400"/>
              </a:spcAft>
              <a:defRPr sz="1000" b="1">
                <a:solidFill>
                  <a:srgbClr val="111815"/>
                </a:solidFill>
                <a:latin typeface="Arial"/>
              </a:defRPr>
            </a:pPr>
            <a:r>
              <a:t>27 / 27 Total Tests Passing</a:t>
            </a:r>
          </a:p>
          <a:p>
            <a:pPr>
              <a:defRPr sz="950">
                <a:solidFill>
                  <a:srgbClr val="4B5563"/>
                </a:solidFill>
                <a:latin typeface="Arial"/>
              </a:defRPr>
            </a:pPr>
            <a:r>
              <a:t>Zero regressions across the entire codebase:</a:t>
            </a:r>
            <a:br/>
            <a:r>
              <a:t>• test_web_ux.py: 4/4</a:t>
            </a:r>
            <a:br/>
            <a:r>
              <a:t>• test_harness.py: 11/11 (P0/P1/P2 fixes)</a:t>
            </a:r>
            <a:br/>
            <a:r>
              <a:t>• test_nla.py: 8/8</a:t>
            </a:r>
            <a:br/>
            <a:r>
              <a:t>• test_core.py: 4/4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767328"/>
            <a:ext cx="525780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/>
          <a:lstStyle/>
          <a:p>
            <a:pPr algn="ctr">
              <a:defRPr sz="1200" b="1">
                <a:solidFill>
                  <a:srgbClr val="047857"/>
                </a:solidFill>
                <a:latin typeface="Arial"/>
              </a:defRPr>
            </a:pPr>
            <a:r>
              <a:t>Anti-Neuronpedia Compliance</a:t>
            </a:r>
          </a:p>
          <a:p>
            <a:pPr>
              <a:spcAft>
                <a:spcPts val="400"/>
              </a:spcAft>
              <a:defRPr sz="1000" b="1">
                <a:solidFill>
                  <a:srgbClr val="111815"/>
                </a:solidFill>
                <a:latin typeface="Arial"/>
              </a:defRPr>
            </a:pPr>
            <a:r>
              <a:t>Strict 2-Card Simplicity</a:t>
            </a:r>
          </a:p>
          <a:p>
            <a:pPr>
              <a:defRPr sz="950">
                <a:solidFill>
                  <a:srgbClr val="4B5563"/>
                </a:solidFill>
                <a:latin typeface="Arial"/>
              </a:defRPr>
            </a:pPr>
            <a:r>
              <a:t>• Card 1: 1. Interpret (Concept readout)</a:t>
            </a:r>
            <a:br/>
            <a:r>
              <a:t>• Card 2: 2. Steer (Side-by-side &amp; Presets)</a:t>
            </a:r>
            <a:br/>
            <a:r>
              <a:t>• Zero math formulas, raw neurons, or histograms</a:t>
            </a:r>
            <a:br/>
            <a:r>
              <a:t>• Theme: Unsloth Studio Light (#F7FAF8)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3767328"/>
            <a:ext cx="525780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/>
          <a:lstStyle/>
          <a:p>
            <a:pPr algn="ctr">
              <a:defRPr sz="1200" b="1">
                <a:solidFill>
                  <a:srgbClr val="047857"/>
                </a:solidFill>
                <a:latin typeface="Arial"/>
              </a:defRPr>
            </a:pPr>
            <a:r>
              <a:t>Next Milestone</a:t>
            </a:r>
          </a:p>
          <a:p>
            <a:pPr>
              <a:spcAft>
                <a:spcPts val="400"/>
              </a:spcAft>
              <a:defRPr sz="1000" b="1">
                <a:solidFill>
                  <a:srgbClr val="111815"/>
                </a:solidFill>
                <a:latin typeface="Arial"/>
              </a:defRPr>
            </a:pPr>
            <a:r>
              <a:t>Backend Method Wiring</a:t>
            </a:r>
          </a:p>
          <a:p>
            <a:pPr>
              <a:defRPr sz="950">
                <a:solidFill>
                  <a:srgbClr val="4B5563"/>
                </a:solidFill>
                <a:latin typeface="Arial"/>
              </a:defRPr>
            </a:pPr>
            <a:r>
              <a:t>Ready to wire live methods into the 2 cards:</a:t>
            </a:r>
            <a:br/>
            <a:r>
              <a:t>• F1: Sparse Autoencoders (SAE)</a:t>
            </a:r>
            <a:br/>
            <a:r>
              <a:t>• F2: Jacobian Lens (J-Space)</a:t>
            </a:r>
            <a:br/>
            <a:r>
              <a:t>• F3: Autonomous Agentic Investigator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