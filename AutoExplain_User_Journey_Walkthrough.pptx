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54480"/>
            <a:ext cx="292608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47857"/>
                </a:solidFill>
                <a:latin typeface="Arial"/>
              </a:defRPr>
            </a:pPr>
            <a:r>
              <a:t>MECHANISTIC XAI · V0.1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15"/>
                </a:solidFill>
                <a:latin typeface="Arial"/>
              </a:defRPr>
            </a:pPr>
            <a:r>
              <a:t>AutoExplain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Walkthrough as User: From Zero-Setup Exploration to Cross-Model Causal Steering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977639"/>
            <a:ext cx="2788920" cy="1463040"/>
          </a:xfrm>
          <a:prstGeom prst="roundRect">
            <a:avLst/>
          </a:prstGeom>
          <a:solidFill>
            <a:srgbClr val="F7FA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Anti-Neuronpedia Simplicity</a:t>
            </a:r>
          </a:p>
          <a:p>
            <a:pPr>
              <a:defRPr sz="1000">
                <a:solidFill>
                  <a:srgbClr val="4B5563"/>
                </a:solidFill>
                <a:latin typeface="Arial"/>
              </a:defRPr>
            </a:pPr>
            <a:r>
              <a:t>Strictly 2 cards on screen: 1. Interpret and 2. Steer. Zero raw neuron math.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0872" y="3977639"/>
            <a:ext cx="2788920" cy="1463040"/>
          </a:xfrm>
          <a:prstGeom prst="roundRect">
            <a:avLst/>
          </a:prstGeom>
          <a:solidFill>
            <a:srgbClr val="F7FA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Plain-English Readouts</a:t>
            </a:r>
          </a:p>
          <a:p>
            <a:pPr>
              <a:defRPr sz="1000">
                <a:solidFill>
                  <a:srgbClr val="4B5563"/>
                </a:solidFill>
                <a:latin typeface="Arial"/>
              </a:defRPr>
            </a:pPr>
            <a:r>
              <a:t>Click any word to read what internal concept fires in natural human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35824" y="3977639"/>
            <a:ext cx="2788920" cy="1463040"/>
          </a:xfrm>
          <a:prstGeom prst="roundRect">
            <a:avLst/>
          </a:prstGeom>
          <a:solidFill>
            <a:srgbClr val="F7FA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Cross-Model Reusability</a:t>
            </a:r>
          </a:p>
          <a:p>
            <a:pPr>
              <a:defRPr sz="1000">
                <a:solidFill>
                  <a:srgbClr val="4B5563"/>
                </a:solidFill>
                <a:latin typeface="Arial"/>
              </a:defRPr>
            </a:pPr>
            <a:r>
              <a:t>Save steering vectors as presets and test across .pt checkpoints seamlessly.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AUTOEXPLAIN STUDIO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Design Principles &amp; Core User Stories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Story 1: The First-Time Visitor</a:t>
            </a:r>
          </a:p>
          <a:p>
            <a:pPr>
              <a:defRPr sz="1400" b="1">
                <a:solidFill>
                  <a:srgbClr val="111815"/>
                </a:solidFill>
                <a:latin typeface="Arial"/>
              </a:defRPr>
            </a:pPr>
            <a:r>
              <a:t>Zero-Setup Exploration</a:t>
            </a:r>
          </a:p>
          <a:p>
            <a:pPr>
              <a:defRPr sz="1050">
                <a:solidFill>
                  <a:srgbClr val="4B5563"/>
                </a:solidFill>
                <a:latin typeface="Arial"/>
              </a:defRPr>
            </a:pPr>
            <a:r>
              <a:t>Loads immediately into 'The capital of France is' with token activation tints. No login, no wizard, no blank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Story 2: The Interpreter</a:t>
            </a:r>
          </a:p>
          <a:p>
            <a:pPr>
              <a:defRPr sz="1400" b="1">
                <a:solidFill>
                  <a:srgbClr val="111815"/>
                </a:solidFill>
                <a:latin typeface="Arial"/>
              </a:defRPr>
            </a:pPr>
            <a:r>
              <a:t>Reading Internal Meaning</a:t>
            </a:r>
          </a:p>
          <a:p>
            <a:pPr>
              <a:defRPr sz="1050">
                <a:solidFill>
                  <a:srgbClr val="4B5563"/>
                </a:solidFill>
                <a:latin typeface="Arial"/>
              </a:defRPr>
            </a:pPr>
            <a:r>
              <a:t>Clicking any word displays a plain-English explanation of the firing concept (e.g. 'Predicting Paris as capital city'). Zero neuron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Story 3: The Steerer</a:t>
            </a:r>
          </a:p>
          <a:p>
            <a:pPr>
              <a:defRPr sz="1400" b="1">
                <a:solidFill>
                  <a:srgbClr val="111815"/>
                </a:solidFill>
                <a:latin typeface="Arial"/>
              </a:defRPr>
            </a:pPr>
            <a:r>
              <a:t>Causal Activation Interventions</a:t>
            </a:r>
          </a:p>
          <a:p>
            <a:pPr>
              <a:defRPr sz="1050">
                <a:solidFill>
                  <a:srgbClr val="4B5563"/>
                </a:solidFill>
                <a:latin typeface="Arial"/>
              </a:defRPr>
            </a:pPr>
            <a:r>
              <a:t>Suppress a concept or steer toward 'Tokyo / Japan' and compare Default vs. Steered model output side-by-side with diff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Story 4: Cross-Model Experimenter</a:t>
            </a:r>
          </a:p>
          <a:p>
            <a:pPr>
              <a:defRPr sz="1400" b="1">
                <a:solidFill>
                  <a:srgbClr val="111815"/>
                </a:solidFill>
                <a:latin typeface="Arial"/>
              </a:defRPr>
            </a:pPr>
            <a:r>
              <a:t>Save Steers &amp; Switch Checkpoints</a:t>
            </a:r>
          </a:p>
          <a:p>
            <a:pPr>
              <a:defRPr sz="1050">
                <a:solidFill>
                  <a:srgbClr val="4B5563"/>
                </a:solidFill>
                <a:latin typeface="Arial"/>
              </a:defRPr>
            </a:pPr>
            <a:r>
              <a:t>Save steering vectors as reusable preset pills. Switch .pt checkpoints via header and re-test presets on the new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STEP 1 OF 5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User Step 1: Zero-Setup Arrival &amp; Exploration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My Action as User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navigate directly to http://127.0.0.1:8000 in my browser.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What I Experience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There is no login gate, setup wizard, or blank canvas. The system boots directly into an active, live example.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Immediate Visual Feedback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 prompt 'The capital of France is' is tokenized into interactive word pills. Each word is softly tinted by its internal activation intensity.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2-Card Layout Simplicity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immediately see exactly two cards: '1. Interpret' on the left and '2. Steer' on the right, themed in Unsloth Studio Light sage-white.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Why It Matters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Researchers can inspect neural activations in seconds without configuring models, SAE dictionary sizes, or GPU device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64309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_initial_arr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35608"/>
            <a:ext cx="62087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STEP 2 OF 5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User Step 2: The Interpreter — Reading Internal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My Action as User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click the word pill 'France' (Position 3) in the prompt bar.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What I Experience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Card 1 ('1. Interpret') updates instantly to show the plain-English firing concept: 'Sovereign entity: French Republic (Western Europe, Eurozone, Paris hub)'.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Human-Interpretable Tags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 concept displays semantic tags: ['Country', 'Europe', 'France'] with 95% activation strength.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Zero Mechanistic Jargon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am not confronted with obscure neuron IDs like 'L8·N14209', activation histograms, or logit tables.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Actionable Next Step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A single-click button '⚡ Steer This Concept in Card 2' bridges interpretation directly to causal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64309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2_token_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35608"/>
            <a:ext cx="62087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STEP 3 OF 5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User Step 3: The Steerer — Causal Interventions Side-by-Side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My Action as User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select token 'is' and click the '📌 Tokyo Steer' preset pill with Boost mode at 1.00x intensity.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What I Experience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Card 2 ('2. Steer') renders a side-by-side comparison of Default vs. Steered model outputs.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Default Output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'The capital of France is Paris, the country's most populous city.'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Steered Output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'The capital of France is Tokyo, in an alternate world where Japan and France united.'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Diff Explanation Banner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 system provides an exact explanation: 'Replaced Paris fact retrieval with Tokyo / Japan entity representation'.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64309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3_causal_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35608"/>
            <a:ext cx="62087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STEP 4 OF 5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User Step 4: Suppressing Thoughts &amp; Saving Presets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My Action as User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click '🚫 Suppress Paris' to inhibit the factual retrieval neuron cluster.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What I Experience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 model output immediately pivots to: 'The capital of France is a historic European city renowned for culture and architecture.'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Factual Fallback Observation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Suppression successfully eliminates the exact token 'Paris' while allowing the Transformer to retain coherent grammatical context.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Saving Steering Vectors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click 'Save Steer' to store customized interventions as reusable preset pills inside Card 2.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Why It Matters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Causal safety researchers can test concept suppression without writing PyTorch forward hooks manually.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64309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4_suppress_thou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35608"/>
            <a:ext cx="62087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STEP 5 OF 5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User Step 5: Cross-Model Checkpoint Switching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47857"/>
                </a:solidFill>
                <a:latin typeface="Arial"/>
              </a:defRPr>
            </a:pPr>
            <a:r>
              <a:t>My Action as User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In the top header, I click 'gpt2-finetuned.pt' (or use '+ Upload .pt' to load new weights).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What I Experience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The active model switches immediately without reloading the page or losing current session context.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Preserved Steering Presets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All saved steer presets (Tokyo, Berlin, Suppress Paris) remain clickable inside Card 2.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Cross-Model Validation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I can immediately test whether a steering vector discovered in base GPT-2 transfers to a fine-tuned checkpoint.</a:t>
            </a:r>
          </a:p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Why It Matters</a:t>
            </a:r>
          </a:p>
          <a:p>
            <a:pPr>
              <a:spcAft>
                <a:spcPts val="1000"/>
              </a:spcAft>
              <a:defRPr sz="950">
                <a:solidFill>
                  <a:srgbClr val="4B5563"/>
                </a:solidFill>
                <a:latin typeface="Arial"/>
              </a:defRPr>
            </a:pPr>
            <a:r>
              <a:t>Enables rapid hypothesis verification across model versions and checkpoints.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25880"/>
            <a:ext cx="6430975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5_cross_model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35608"/>
            <a:ext cx="6208776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Arial"/>
              </a:defRPr>
            </a:pPr>
            <a:r>
              <a:t>AUTOEXPLAIN STUDIO ·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815"/>
                </a:solidFill>
                <a:latin typeface="Arial"/>
              </a:defRPr>
            </a:pPr>
            <a:r>
              <a:t>Verification &amp; Implementation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Acceptance Test Suite</a:t>
            </a:r>
          </a:p>
          <a:p>
            <a:pPr>
              <a:spcAft>
                <a:spcPts val="400"/>
              </a:spcAft>
              <a:defRPr sz="1000" b="1">
                <a:solidFill>
                  <a:srgbClr val="111815"/>
                </a:solidFill>
                <a:latin typeface="Arial"/>
              </a:defRPr>
            </a:pPr>
            <a:r>
              <a:t>tests/test_web_ux.py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All 4 User Stories verified under pytest with zero GPU dependencies required:</a:t>
            </a:r>
            <a:br/>
            <a:r>
              <a:t>• Story 1: Zero-setup pre-loaded arrival</a:t>
            </a:r>
            <a:br/>
            <a:r>
              <a:t>• Story 2: Plain-English concept readout</a:t>
            </a:r>
            <a:br/>
            <a:r>
              <a:t>• Story 3: Causal steering &amp; side-by-side diff</a:t>
            </a:r>
            <a:br/>
            <a:r>
              <a:t>• Story 4: Cross-model preset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Full Repository Health</a:t>
            </a:r>
          </a:p>
          <a:p>
            <a:pPr>
              <a:spcAft>
                <a:spcPts val="400"/>
              </a:spcAft>
              <a:defRPr sz="1000" b="1">
                <a:solidFill>
                  <a:srgbClr val="111815"/>
                </a:solidFill>
                <a:latin typeface="Arial"/>
              </a:defRPr>
            </a:pPr>
            <a:r>
              <a:t>27 / 27 Tests Passing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Complete test coverage across all subsystems:</a:t>
            </a:r>
            <a:br/>
            <a:r>
              <a:t>• test_web_ux.py: 4/4 passing</a:t>
            </a:r>
            <a:br/>
            <a:r>
              <a:t>• test_harness.py: 11/11 passing (P0/P1/P2 fixes)</a:t>
            </a:r>
            <a:br/>
            <a:r>
              <a:t>• test_nla.py: 8/8 passing</a:t>
            </a:r>
            <a:br/>
            <a:r>
              <a:t>• test_core.py: 4/4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Architectural Alignment</a:t>
            </a:r>
          </a:p>
          <a:p>
            <a:pPr>
              <a:spcAft>
                <a:spcPts val="400"/>
              </a:spcAft>
              <a:defRPr sz="1000" b="1">
                <a:solidFill>
                  <a:srgbClr val="111815"/>
                </a:solidFill>
                <a:latin typeface="Arial"/>
              </a:defRPr>
            </a:pPr>
            <a:r>
              <a:t>AutoExplain Harness &amp; Methods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FastAPI web endpoints cleanly map to core harness actions:</a:t>
            </a:r>
            <a:br/>
            <a:r>
              <a:t>• open_model / inspect → Top Header &amp; Upload</a:t>
            </a:r>
            <a:br/>
            <a:r>
              <a:t>• run / observe → Card 1 (Interpret)</a:t>
            </a:r>
            <a:br/>
            <a:r>
              <a:t>• intervene / reset / record → Card 2 (Steer)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Roadmap Next Steps</a:t>
            </a:r>
          </a:p>
          <a:p>
            <a:pPr>
              <a:spcAft>
                <a:spcPts val="400"/>
              </a:spcAft>
              <a:defRPr sz="1000" b="1">
                <a:solidFill>
                  <a:srgbClr val="111815"/>
                </a:solidFill>
                <a:latin typeface="Arial"/>
              </a:defRPr>
            </a:pPr>
            <a:r>
              <a:t>Feature Milestones Ahead</a:t>
            </a:r>
          </a:p>
          <a:p>
            <a:pPr>
              <a:defRPr sz="950">
                <a:solidFill>
                  <a:srgbClr val="4B5563"/>
                </a:solidFill>
                <a:latin typeface="Arial"/>
              </a:defRPr>
            </a:pPr>
            <a:r>
              <a:t>Future interpretability methods ready for harness wiring:</a:t>
            </a:r>
            <a:br/>
            <a:r>
              <a:t>• F1: Sparse Autoencoders (SAE)</a:t>
            </a:r>
            <a:br/>
            <a:r>
              <a:t>• F2: Jacobian Lens (J-Space)</a:t>
            </a:r>
            <a:br/>
            <a:r>
              <a:t>• F3: Autonomous Agentic Investigator</a:t>
            </a:r>
            <a:br/>
            <a:r>
              <a:t>• F5: Block-Sparse Featurizers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